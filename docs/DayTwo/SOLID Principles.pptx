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elveticaNeue-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HelveticaNeue-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Boiler Plate DRY (Don't repeat yourself) felsefesine oldukça uygun bir yaklaşımdır.</a:t>
            </a:r>
            <a:endParaRPr/>
          </a:p>
        </p:txBody>
      </p:sp>
      <p:sp>
        <p:nvSpPr>
          <p:cNvPr id="175" name="Google Shape;17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8e5463b61_1_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t>Bu mimarinin temel amacı, uygulamanın iş mantığını (core/business logic) dış dünyadan izole etmek ve böylece farklı sistemlerle entegrasyonun kolayca sağlanabilmesini mümkün kılmaktır.</a:t>
            </a:r>
            <a:endParaRPr/>
          </a:p>
          <a:p>
            <a:pPr indent="0" lvl="0" marL="0" rtl="0" algn="l">
              <a:lnSpc>
                <a:spcPct val="100000"/>
              </a:lnSpc>
              <a:spcBef>
                <a:spcPts val="0"/>
              </a:spcBef>
              <a:spcAft>
                <a:spcPts val="0"/>
              </a:spcAft>
              <a:buSzPts val="1200"/>
              <a:buNone/>
            </a:pPr>
            <a:r>
              <a:t/>
            </a:r>
            <a:endParaRPr/>
          </a:p>
        </p:txBody>
      </p:sp>
      <p:sp>
        <p:nvSpPr>
          <p:cNvPr id="193" name="Google Shape;193;g348e5463b61_1_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8e5463b61_1_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199" name="Google Shape;199;g348e5463b61_1_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8e5463b61_1_1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05" name="Google Shape;205;g348e5463b61_1_1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8e5463b61_1_1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11" name="Google Shape;211;g348e5463b61_1_1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8e5463b61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48e5463b61_1_20:notes"/>
          <p:cNvSpPr txBox="1"/>
          <p:nvPr>
            <p:ph idx="1" type="body"/>
          </p:nvPr>
        </p:nvSpPr>
        <p:spPr>
          <a:xfrm>
            <a:off x="685800" y="4400550"/>
            <a:ext cx="5486400" cy="3600600"/>
          </a:xfrm>
          <a:prstGeom prst="rect">
            <a:avLst/>
          </a:prstGeom>
          <a:noFill/>
          <a:ln>
            <a:noFill/>
          </a:ln>
        </p:spPr>
        <p:txBody>
          <a:bodyPr anchorCtr="0" anchor="t" bIns="45750" lIns="91500" spcFirstLastPara="1" rIns="91500" wrap="square" tIns="45750">
            <a:noAutofit/>
          </a:bodyPr>
          <a:lstStyle/>
          <a:p>
            <a:pPr indent="0" lvl="0" marL="0" rtl="0" algn="l">
              <a:spcBef>
                <a:spcPts val="0"/>
              </a:spcBef>
              <a:spcAft>
                <a:spcPts val="0"/>
              </a:spcAft>
              <a:buNone/>
            </a:pPr>
            <a:r>
              <a:rPr lang="en-US"/>
              <a:t>Bu mimarinin yaratıcısı olarak “Uncle Bob” adıyla tanınan Robert C. Martin’dir.</a:t>
            </a:r>
            <a:endParaRPr/>
          </a:p>
        </p:txBody>
      </p:sp>
      <p:sp>
        <p:nvSpPr>
          <p:cNvPr id="218" name="Google Shape;218;g348e5463b61_1_20:notes"/>
          <p:cNvSpPr txBox="1"/>
          <p:nvPr>
            <p:ph idx="12" type="sldNum"/>
          </p:nvPr>
        </p:nvSpPr>
        <p:spPr>
          <a:xfrm>
            <a:off x="3884613" y="8685213"/>
            <a:ext cx="2971800" cy="458700"/>
          </a:xfrm>
          <a:prstGeom prst="rect">
            <a:avLst/>
          </a:prstGeom>
          <a:noFill/>
          <a:ln>
            <a:noFill/>
          </a:ln>
        </p:spPr>
        <p:txBody>
          <a:bodyPr anchorCtr="0" anchor="b" bIns="45750" lIns="91500" spcFirstLastPara="1" rIns="91500" wrap="square" tIns="457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8e5463b61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48e5463b61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8e5463b61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48e5463b61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8e5463b61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48e5463b61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8e5463b61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48e5463b61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2" name="Google Shape;22;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8" name="Google Shape;38;p4"/>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47" name="Google Shape;47;p5"/>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8" name="Google Shape;58;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5" name="Google Shape;65;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1" name="Google Shape;71;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0" name="Google Shape;80;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p:nvPr>
            <p:ph idx="2" type="pic"/>
          </p:nvPr>
        </p:nvSpPr>
        <p:spPr>
          <a:xfrm>
            <a:off x="5183188" y="987425"/>
            <a:ext cx="6172200" cy="4873625"/>
          </a:xfrm>
          <a:prstGeom prst="rect">
            <a:avLst/>
          </a:prstGeom>
          <a:noFill/>
          <a:ln>
            <a:noFill/>
          </a:ln>
        </p:spPr>
      </p:sp>
      <p:sp>
        <p:nvSpPr>
          <p:cNvPr id="84" name="Google Shape;8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9" name="Google Shape;89;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7" name="Google Shape;97;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5" name="Google Shape;105;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Solid Principles</a:t>
            </a:r>
            <a:endParaRPr/>
          </a:p>
        </p:txBody>
      </p:sp>
      <p:pic>
        <p:nvPicPr>
          <p:cNvPr id="111" name="Google Shape;111;p13"/>
          <p:cNvPicPr preferRelativeResize="0"/>
          <p:nvPr>
            <p:ph idx="1" type="body"/>
          </p:nvPr>
        </p:nvPicPr>
        <p:blipFill rotWithShape="1">
          <a:blip r:embed="rId3">
            <a:alphaModFix/>
          </a:blip>
          <a:srcRect b="0" l="0" r="0" t="0"/>
          <a:stretch/>
        </p:blipFill>
        <p:spPr>
          <a:xfrm>
            <a:off x="3149848" y="1628069"/>
            <a:ext cx="5459564" cy="38597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Neden SOLID ihtiyaç duyuyoruz ?</a:t>
            </a:r>
            <a:endParaRPr/>
          </a:p>
        </p:txBody>
      </p:sp>
      <p:sp>
        <p:nvSpPr>
          <p:cNvPr id="117" name="Google Shape;117;p1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85000" lnSpcReduction="20000"/>
          </a:bodyPr>
          <a:lstStyle/>
          <a:p>
            <a:pPr indent="0" lvl="0" marL="228600" rtl="0" algn="l">
              <a:lnSpc>
                <a:spcPct val="90000"/>
              </a:lnSpc>
              <a:spcBef>
                <a:spcPts val="0"/>
              </a:spcBef>
              <a:spcAft>
                <a:spcPts val="0"/>
              </a:spcAft>
              <a:buSzPct val="88235"/>
              <a:buNone/>
            </a:pPr>
            <a:r>
              <a:t/>
            </a:r>
            <a:endParaRPr b="1" sz="2400">
              <a:solidFill>
                <a:srgbClr val="DD7E0E"/>
              </a:solidFill>
              <a:latin typeface="Arial"/>
              <a:ea typeface="Arial"/>
              <a:cs typeface="Arial"/>
              <a:sym typeface="Arial"/>
            </a:endParaRPr>
          </a:p>
          <a:p>
            <a:pPr indent="0" lvl="0" marL="228600" rtl="0" algn="l">
              <a:lnSpc>
                <a:spcPct val="90000"/>
              </a:lnSpc>
              <a:spcBef>
                <a:spcPts val="0"/>
              </a:spcBef>
              <a:spcAft>
                <a:spcPts val="0"/>
              </a:spcAft>
              <a:buSzPct val="88235"/>
              <a:buNone/>
            </a:pPr>
            <a:r>
              <a:rPr b="1" lang="en-US" sz="2400">
                <a:solidFill>
                  <a:srgbClr val="DD7E0E"/>
                </a:solidFill>
                <a:latin typeface="Arial"/>
                <a:ea typeface="Arial"/>
                <a:cs typeface="Arial"/>
                <a:sym typeface="Arial"/>
              </a:rPr>
              <a:t>Rigidity - Esnemezlik</a:t>
            </a:r>
            <a:r>
              <a:rPr lang="en-US" sz="2400">
                <a:solidFill>
                  <a:srgbClr val="DD7E0E"/>
                </a:solidFill>
                <a:latin typeface="Arial"/>
                <a:ea typeface="Arial"/>
                <a:cs typeface="Arial"/>
                <a:sym typeface="Arial"/>
              </a:rPr>
              <a:t> :</a:t>
            </a:r>
            <a:r>
              <a:rPr lang="en-US" sz="2400">
                <a:latin typeface="Arial"/>
                <a:ea typeface="Arial"/>
                <a:cs typeface="Arial"/>
                <a:sym typeface="Arial"/>
              </a:rPr>
              <a:t> Kullanılan tasarımın geliştirilmesinde ve ekleme yapılmasında zorluk.</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solidFill>
                <a:srgbClr val="DD7E0E"/>
              </a:solidFill>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Fragility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Kırılganlık</a:t>
            </a:r>
            <a:r>
              <a:rPr lang="en-US" sz="2400">
                <a:latin typeface="Arial"/>
                <a:ea typeface="Arial"/>
                <a:cs typeface="Arial"/>
                <a:sym typeface="Arial"/>
              </a:rPr>
              <a:t>: Bir yerde yapılan değişikliğin başka bir yerde sorun çıkarması.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Stability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Sabitlik</a:t>
            </a:r>
            <a:r>
              <a:rPr lang="en-US" sz="2400">
                <a:solidFill>
                  <a:srgbClr val="DD7E0E"/>
                </a:solidFill>
                <a:latin typeface="Arial"/>
                <a:ea typeface="Arial"/>
                <a:cs typeface="Arial"/>
                <a:sym typeface="Arial"/>
              </a:rPr>
              <a:t>:</a:t>
            </a:r>
            <a:r>
              <a:rPr lang="en-US" sz="2400">
                <a:latin typeface="Arial"/>
                <a:ea typeface="Arial"/>
                <a:cs typeface="Arial"/>
                <a:sym typeface="Arial"/>
              </a:rPr>
              <a:t> Geliştirilmiş modülün başka yerde tekrar kullanılabilir (reusable) olmaması.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0" rtl="0" algn="l">
              <a:lnSpc>
                <a:spcPct val="90000"/>
              </a:lnSpc>
              <a:spcBef>
                <a:spcPts val="1000"/>
              </a:spcBef>
              <a:spcAft>
                <a:spcPts val="0"/>
              </a:spcAft>
              <a:buSzPct val="88235"/>
              <a:buNone/>
            </a:pPr>
            <a:r>
              <a:rPr lang="en-US" sz="2400">
                <a:solidFill>
                  <a:srgbClr val="DD7E0E"/>
                </a:solidFill>
                <a:latin typeface="Arial"/>
                <a:ea typeface="Arial"/>
                <a:cs typeface="Arial"/>
                <a:sym typeface="Arial"/>
              </a:rPr>
              <a:t>   </a:t>
            </a:r>
            <a:r>
              <a:rPr b="1" lang="en-US" sz="2400">
                <a:solidFill>
                  <a:srgbClr val="DD7E0E"/>
                </a:solidFill>
                <a:latin typeface="Arial"/>
                <a:ea typeface="Arial"/>
                <a:cs typeface="Arial"/>
                <a:sym typeface="Arial"/>
              </a:rPr>
              <a:t>Cost - Maliyet</a:t>
            </a:r>
            <a:r>
              <a:rPr lang="en-US" sz="2400">
                <a:solidFill>
                  <a:srgbClr val="DD7E0E"/>
                </a:solidFill>
                <a:latin typeface="Arial"/>
                <a:ea typeface="Arial"/>
                <a:cs typeface="Arial"/>
                <a:sym typeface="Arial"/>
              </a:rPr>
              <a:t>: </a:t>
            </a:r>
            <a:r>
              <a:rPr lang="en-US" sz="2400">
                <a:latin typeface="Arial"/>
                <a:ea typeface="Arial"/>
                <a:cs typeface="Arial"/>
                <a:sym typeface="Arial"/>
              </a:rPr>
              <a:t>Geliştirme maliyetinin ve sürecinin giderek artması.</a:t>
            </a:r>
            <a:endParaRPr sz="2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i="1">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Single Responsibility</a:t>
            </a:r>
            <a:endParaRPr/>
          </a:p>
        </p:txBody>
      </p:sp>
      <p:sp>
        <p:nvSpPr>
          <p:cNvPr id="123" name="Google Shape;123;p1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sınıfın veya metodun değişebilmesi için tek bir sebep olmalıdır.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24" name="Google Shape;124;p15"/>
          <p:cNvPicPr preferRelativeResize="0"/>
          <p:nvPr/>
        </p:nvPicPr>
        <p:blipFill rotWithShape="1">
          <a:blip r:embed="rId3">
            <a:alphaModFix/>
          </a:blip>
          <a:srcRect b="0" l="0" r="0" t="0"/>
          <a:stretch/>
        </p:blipFill>
        <p:spPr>
          <a:xfrm>
            <a:off x="3049881" y="2619985"/>
            <a:ext cx="5913495" cy="35559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Open Closed Principles</a:t>
            </a:r>
            <a:endParaRPr/>
          </a:p>
        </p:txBody>
      </p:sp>
      <p:sp>
        <p:nvSpPr>
          <p:cNvPr id="130" name="Google Shape;130;p1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 gelişime</a:t>
            </a:r>
            <a:r>
              <a:rPr lang="en-US" sz="2400">
                <a:solidFill>
                  <a:srgbClr val="DD7E0E"/>
                </a:solidFill>
              </a:rPr>
              <a:t> (extension)</a:t>
            </a:r>
            <a:r>
              <a:rPr lang="en-US" sz="2400"/>
              <a:t> açık, değişime </a:t>
            </a:r>
            <a:r>
              <a:rPr lang="en-US" sz="2400">
                <a:solidFill>
                  <a:srgbClr val="DD7E0E"/>
                </a:solidFill>
              </a:rPr>
              <a:t>(modification)</a:t>
            </a:r>
            <a:r>
              <a:rPr lang="en-US" sz="2400"/>
              <a:t> kapalı olmalıdır.</a:t>
            </a:r>
            <a:endParaRPr sz="2400"/>
          </a:p>
        </p:txBody>
      </p:sp>
      <p:pic>
        <p:nvPicPr>
          <p:cNvPr id="131" name="Google Shape;131;p16"/>
          <p:cNvPicPr preferRelativeResize="0"/>
          <p:nvPr/>
        </p:nvPicPr>
        <p:blipFill rotWithShape="1">
          <a:blip r:embed="rId3">
            <a:alphaModFix/>
          </a:blip>
          <a:srcRect b="0" l="0" r="0" t="0"/>
          <a:stretch/>
        </p:blipFill>
        <p:spPr>
          <a:xfrm>
            <a:off x="3830696" y="3036369"/>
            <a:ext cx="5179717" cy="29019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Interface Segregation</a:t>
            </a:r>
            <a:endParaRPr>
              <a:solidFill>
                <a:srgbClr val="DD7E0E"/>
              </a:solidFill>
            </a:endParaRPr>
          </a:p>
        </p:txBody>
      </p:sp>
      <p:sp>
        <p:nvSpPr>
          <p:cNvPr id="137" name="Google Shape;137;p1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Kullanılmayan arabirime bağımlı (bağımlı) olmayın.</a:t>
            </a:r>
            <a:endParaRPr sz="2400"/>
          </a:p>
        </p:txBody>
      </p:sp>
      <p:pic>
        <p:nvPicPr>
          <p:cNvPr id="138" name="Google Shape;138;p17"/>
          <p:cNvPicPr preferRelativeResize="0"/>
          <p:nvPr/>
        </p:nvPicPr>
        <p:blipFill rotWithShape="1">
          <a:blip r:embed="rId3">
            <a:alphaModFix/>
          </a:blip>
          <a:srcRect b="0" l="0" r="0" t="0"/>
          <a:stretch/>
        </p:blipFill>
        <p:spPr>
          <a:xfrm>
            <a:off x="3840104" y="3100510"/>
            <a:ext cx="4126088" cy="34697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Dependency Inversion Principles</a:t>
            </a:r>
            <a:endParaRPr/>
          </a:p>
        </p:txBody>
      </p:sp>
      <p:sp>
        <p:nvSpPr>
          <p:cNvPr id="144" name="Google Shape;144;p1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Üst seviye sınıflar alt seviye sınıflara bağımlı olmamalıdır.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5" name="Google Shape;145;p18"/>
          <p:cNvPicPr preferRelativeResize="0"/>
          <p:nvPr/>
        </p:nvPicPr>
        <p:blipFill rotWithShape="1">
          <a:blip r:embed="rId3">
            <a:alphaModFix/>
          </a:blip>
          <a:srcRect b="0" l="0" r="0" t="0"/>
          <a:stretch/>
        </p:blipFill>
        <p:spPr>
          <a:xfrm>
            <a:off x="3405998" y="2499109"/>
            <a:ext cx="4823011" cy="36082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Liskov Substitution Principles</a:t>
            </a:r>
            <a:endParaRPr/>
          </a:p>
        </p:txBody>
      </p:sp>
      <p:sp>
        <p:nvSpPr>
          <p:cNvPr id="151" name="Google Shape;151;p1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Kalıtım alınan sınıflar katılım verilen sınıfların tüm özelliklerini ve metotlarını aynı işlevi gösterecek şekilde kullanabilmelidir.  </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2" name="Google Shape;152;p19"/>
          <p:cNvPicPr preferRelativeResize="0"/>
          <p:nvPr/>
        </p:nvPicPr>
        <p:blipFill rotWithShape="1">
          <a:blip r:embed="rId3">
            <a:alphaModFix/>
          </a:blip>
          <a:srcRect b="0" l="0" r="0" t="0"/>
          <a:stretch/>
        </p:blipFill>
        <p:spPr>
          <a:xfrm>
            <a:off x="3872753" y="2729753"/>
            <a:ext cx="3863787" cy="38637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Inversion Of Control (IoC)</a:t>
            </a:r>
            <a:endParaRPr/>
          </a:p>
        </p:txBody>
      </p:sp>
      <p:sp>
        <p:nvSpPr>
          <p:cNvPr id="158" name="Google Shape;158;p2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i="1" lang="en-US" sz="2400">
                <a:solidFill>
                  <a:srgbClr val="DD7E0E"/>
                </a:solidFill>
              </a:rPr>
              <a:t>IoC</a:t>
            </a:r>
            <a:r>
              <a:rPr lang="en-US" sz="2400"/>
              <a:t>  ile uygulama içerisindeki obje örneklerinin (</a:t>
            </a:r>
            <a:r>
              <a:rPr lang="en-US" sz="2400">
                <a:solidFill>
                  <a:srgbClr val="DD7E0E"/>
                </a:solidFill>
              </a:rPr>
              <a:t>instance</a:t>
            </a:r>
            <a:r>
              <a:rPr lang="en-US" sz="2400"/>
              <a:t>) yönetimi sağlanarak, bağımlılıklarını en aza indirgemesi amaçlanmaktadır.</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Avantajları</a:t>
            </a:r>
            <a:endParaRPr/>
          </a:p>
        </p:txBody>
      </p:sp>
      <p:sp>
        <p:nvSpPr>
          <p:cNvPr id="164" name="Google Shape;164;p2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a:p>
          <a:p>
            <a:pPr indent="0" lvl="0" marL="228600" rtl="0" algn="l">
              <a:lnSpc>
                <a:spcPct val="90000"/>
              </a:lnSpc>
              <a:spcBef>
                <a:spcPts val="1000"/>
              </a:spcBef>
              <a:spcAft>
                <a:spcPts val="0"/>
              </a:spcAft>
              <a:buSzPts val="1800"/>
              <a:buNone/>
            </a:pPr>
            <a:r>
              <a:rPr lang="en-US" sz="2400"/>
              <a:t>Bir methodun implementasyonundan izole bir şekilde çalıştırılabilmesini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Farklı implementasyonlar arasında, kolayca geçiş yapabilmenizi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Program modülerliğini artırır.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Bağımlılıklar en aza indiği için test etmeyi/geliştirmeyi kolaylaştırır.</a:t>
            </a:r>
            <a:endParaRPr sz="240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(Dependency Injection)</a:t>
            </a:r>
            <a:endParaRPr/>
          </a:p>
        </p:txBody>
      </p:sp>
      <p:sp>
        <p:nvSpPr>
          <p:cNvPr id="170" name="Google Shape;170;p2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US" sz="2400"/>
              <a:t>Dependency Injection temel olarak bağımlılıkların kontrolü ve yönetimi için kullanılmaktadır.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71" name="Google Shape;171;p22"/>
          <p:cNvPicPr preferRelativeResize="0"/>
          <p:nvPr/>
        </p:nvPicPr>
        <p:blipFill rotWithShape="1">
          <a:blip r:embed="rId3">
            <a:alphaModFix/>
          </a:blip>
          <a:srcRect b="0" l="0" r="0" t="0"/>
          <a:stretch/>
        </p:blipFill>
        <p:spPr>
          <a:xfrm>
            <a:off x="4105835" y="2916331"/>
            <a:ext cx="4186517" cy="28810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Avantajları</a:t>
            </a:r>
            <a:endParaRPr/>
          </a:p>
        </p:txBody>
      </p:sp>
      <p:sp>
        <p:nvSpPr>
          <p:cNvPr id="178" name="Google Shape;178;p2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sz="2400"/>
          </a:p>
          <a:p>
            <a:pPr indent="0" lvl="0" marL="228600" rtl="0" algn="l">
              <a:lnSpc>
                <a:spcPct val="90000"/>
              </a:lnSpc>
              <a:spcBef>
                <a:spcPts val="1000"/>
              </a:spcBef>
              <a:spcAft>
                <a:spcPts val="0"/>
              </a:spcAft>
              <a:buSzPts val="1800"/>
              <a:buNone/>
            </a:pPr>
            <a:r>
              <a:rPr lang="en-US" sz="2400"/>
              <a:t>Gevşek bağımlılıklı , esnek uygulamalar oluşturabiliriz.</a:t>
            </a:r>
            <a:r>
              <a:rPr b="1" lang="en-US" sz="2400">
                <a:solidFill>
                  <a:srgbClr val="DD7E0E"/>
                </a:solidFill>
              </a:rPr>
              <a:t>(Loosely Coupled)</a:t>
            </a:r>
            <a:endParaRPr b="1" sz="2400">
              <a:solidFill>
                <a:srgbClr val="DD7E0E"/>
              </a:solidFill>
            </a:endParaRPr>
          </a:p>
          <a:p>
            <a:pPr indent="0" lvl="0" marL="228600" rtl="0" algn="l">
              <a:lnSpc>
                <a:spcPct val="90000"/>
              </a:lnSpc>
              <a:spcBef>
                <a:spcPts val="1000"/>
              </a:spcBef>
              <a:spcAft>
                <a:spcPts val="0"/>
              </a:spcAft>
              <a:buSzPts val="1800"/>
              <a:buNone/>
            </a:pPr>
            <a:r>
              <a:t/>
            </a:r>
            <a:endParaRPr b="1" sz="2400">
              <a:solidFill>
                <a:srgbClr val="DD7E0E"/>
              </a:solidFill>
            </a:endParaRPr>
          </a:p>
          <a:p>
            <a:pPr indent="0" lvl="0" marL="228600" rtl="0" algn="l">
              <a:lnSpc>
                <a:spcPct val="90000"/>
              </a:lnSpc>
              <a:spcBef>
                <a:spcPts val="1000"/>
              </a:spcBef>
              <a:spcAft>
                <a:spcPts val="0"/>
              </a:spcAft>
              <a:buSzPts val="1800"/>
              <a:buNone/>
            </a:pPr>
            <a:r>
              <a:rPr lang="en-US" sz="2400"/>
              <a:t>Uygulama içerisinde değişmesi, müdahale edilmesi gereken yerleri minimuma indirir. </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Test edilebilirliği destekler. </a:t>
            </a:r>
            <a:r>
              <a:rPr lang="en-US" sz="2400">
                <a:solidFill>
                  <a:srgbClr val="DD7E0E"/>
                </a:solidFill>
              </a:rPr>
              <a:t>(TDD)</a:t>
            </a:r>
            <a:endParaRPr sz="2400">
              <a:solidFill>
                <a:srgbClr val="DD7E0E"/>
              </a:solidFill>
            </a:endParaRPr>
          </a:p>
          <a:p>
            <a:pPr indent="0" lvl="0" marL="228600" rtl="0" algn="l">
              <a:lnSpc>
                <a:spcPct val="90000"/>
              </a:lnSpc>
              <a:spcBef>
                <a:spcPts val="1000"/>
              </a:spcBef>
              <a:spcAft>
                <a:spcPts val="0"/>
              </a:spcAft>
              <a:buSzPts val="1800"/>
              <a:buNone/>
            </a:pPr>
            <a:r>
              <a:t/>
            </a:r>
            <a:endParaRPr sz="2400">
              <a:solidFill>
                <a:srgbClr val="DD7E0E"/>
              </a:solidFill>
            </a:endParaRPr>
          </a:p>
          <a:p>
            <a:pPr indent="0" lvl="0" marL="228600" rtl="0" algn="l">
              <a:lnSpc>
                <a:spcPct val="90000"/>
              </a:lnSpc>
              <a:spcBef>
                <a:spcPts val="1000"/>
              </a:spcBef>
              <a:spcAft>
                <a:spcPts val="0"/>
              </a:spcAft>
              <a:buSzPts val="1800"/>
              <a:buNone/>
            </a:pPr>
            <a:r>
              <a:rPr lang="en-US" sz="2400">
                <a:solidFill>
                  <a:srgbClr val="DD7E0E"/>
                </a:solidFill>
              </a:rPr>
              <a:t>Boiler Plate</a:t>
            </a:r>
            <a:r>
              <a:rPr lang="en-US" sz="2400"/>
              <a:t> kodu azaltır.</a:t>
            </a:r>
            <a:r>
              <a:rPr lang="en-US" sz="2400">
                <a:solidFill>
                  <a:srgbClr val="DD7E0E"/>
                </a:solidFill>
              </a:rPr>
              <a:t> (DRY)</a:t>
            </a:r>
            <a:endParaRPr sz="2400">
              <a:solidFill>
                <a:srgbClr val="DD7E0E"/>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Adım Adım Zayıf Bağlılık</a:t>
            </a:r>
            <a:endParaRPr>
              <a:solidFill>
                <a:srgbClr val="DD7E0E"/>
              </a:solidFill>
            </a:endParaRPr>
          </a:p>
        </p:txBody>
      </p:sp>
      <p:pic>
        <p:nvPicPr>
          <p:cNvPr id="184" name="Google Shape;184;p24"/>
          <p:cNvPicPr preferRelativeResize="0"/>
          <p:nvPr>
            <p:ph idx="1" type="body"/>
          </p:nvPr>
        </p:nvPicPr>
        <p:blipFill rotWithShape="1">
          <a:blip r:embed="rId3">
            <a:alphaModFix/>
          </a:blip>
          <a:srcRect b="0" l="0" r="0" t="0"/>
          <a:stretch/>
        </p:blipFill>
        <p:spPr>
          <a:xfrm>
            <a:off x="2228262" y="2043407"/>
            <a:ext cx="7688438" cy="27750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Container</a:t>
            </a:r>
            <a:endParaRPr/>
          </a:p>
        </p:txBody>
      </p:sp>
      <p:sp>
        <p:nvSpPr>
          <p:cNvPr id="190" name="Google Shape;190;p2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latin typeface="Arial"/>
                <a:ea typeface="Arial"/>
                <a:cs typeface="Arial"/>
                <a:sym typeface="Arial"/>
              </a:rPr>
              <a:t>IoC Container</a:t>
            </a:r>
            <a:r>
              <a:rPr lang="en-US" sz="2400">
                <a:latin typeface="Arial"/>
                <a:ea typeface="Arial"/>
                <a:cs typeface="Arial"/>
                <a:sym typeface="Arial"/>
              </a:rPr>
              <a:t>, uygulama bağımlılıklarını merkezi bir yerden  olarak yönetmeyi sağlayan bir </a:t>
            </a:r>
            <a:r>
              <a:rPr b="1" lang="en-US" sz="2400">
                <a:solidFill>
                  <a:srgbClr val="DD7E0E"/>
                </a:solidFill>
                <a:latin typeface="Arial"/>
                <a:ea typeface="Arial"/>
                <a:cs typeface="Arial"/>
                <a:sym typeface="Arial"/>
              </a:rPr>
              <a:t>framework </a:t>
            </a:r>
            <a:r>
              <a:rPr lang="en-US" sz="2400">
                <a:latin typeface="Arial"/>
                <a:ea typeface="Arial"/>
                <a:cs typeface="Arial"/>
                <a:sym typeface="Arial"/>
              </a:rPr>
              <a:t>görevi görür.</a:t>
            </a:r>
            <a:endParaRPr sz="2400">
              <a:latin typeface="Arial"/>
              <a:ea typeface="Arial"/>
              <a:cs typeface="Arial"/>
              <a:sym typeface="Arial"/>
            </a:endParaRPr>
          </a:p>
          <a:p>
            <a:pPr indent="0" lvl="0" marL="0" rtl="0" algn="l">
              <a:lnSpc>
                <a:spcPct val="90000"/>
              </a:lnSpc>
              <a:spcBef>
                <a:spcPts val="0"/>
              </a:spcBef>
              <a:spcAft>
                <a:spcPts val="0"/>
              </a:spcAft>
              <a:buClr>
                <a:srgbClr val="DD7E0E"/>
              </a:buClr>
              <a:buSzPts val="2800"/>
              <a:buNone/>
            </a:pPr>
            <a:r>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Unity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Ninject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Castle Windsor</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Autofac</a:t>
            </a:r>
            <a:endParaRPr sz="2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6"/>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pic>
        <p:nvPicPr>
          <p:cNvPr id="196" name="Google Shape;196;p26"/>
          <p:cNvPicPr preferRelativeResize="0"/>
          <p:nvPr/>
        </p:nvPicPr>
        <p:blipFill>
          <a:blip r:embed="rId3">
            <a:alphaModFix/>
          </a:blip>
          <a:stretch>
            <a:fillRect/>
          </a:stretch>
        </p:blipFill>
        <p:spPr>
          <a:xfrm>
            <a:off x="1712925" y="2150840"/>
            <a:ext cx="8479031" cy="48627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27"/>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2" name="Google Shape;202;p27"/>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2400">
                <a:solidFill>
                  <a:schemeClr val="dk1"/>
                </a:solidFill>
              </a:rPr>
              <a:t>Bu mimarinin temel amacı, uygulamanın iş mantığını (core/business logic) dış dünyadan izole etmek ve böylece farklı sistemlerle entegrasyonun kolayca sağlanabilmesini mümkün kılmaktır.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Hexagonal Mimari 3 ana bileşenden oluşur;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Core/Bussiness Logic (çekirdek)</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Ports (inbound-outbound) (giriş-çıkış portları)</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Adapters (adaptör)</a:t>
            </a:r>
            <a:endParaRPr b="1"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28"/>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8" name="Google Shape;208;p28"/>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Çekirdek (Core/Business Logic)</a:t>
            </a:r>
            <a:r>
              <a:rPr lang="en-US" sz="2400">
                <a:solidFill>
                  <a:schemeClr val="dk1"/>
                </a:solidFill>
              </a:rPr>
              <a:t>: Uygulamanın temel iş mantığı burada yer alır. Bu katman, uygulamanın ana amacını yerine getiren tüm kuralları ve işlemleri içerir.</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Portlar (Ports)</a:t>
            </a:r>
            <a:r>
              <a:rPr lang="en-US" sz="2400">
                <a:solidFill>
                  <a:schemeClr val="dk1"/>
                </a:solidFill>
              </a:rPr>
              <a:t>: Uygulamanın dış dünyayla iletişim kurmasını sağlayan arabirimlerdir. Portlar, uygulamanın iş mantığını dış sistemlere açmak için kullanılan soyutlamalardır. </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Adaptörler (Adapters)</a:t>
            </a:r>
            <a:r>
              <a:rPr lang="en-US" sz="2400">
                <a:solidFill>
                  <a:schemeClr val="dk1"/>
                </a:solidFill>
              </a:rPr>
              <a:t>: Portların sağladığı arabirimleri uygulayan sınıflardır. Adaptörler, dış dünyayla (UI, veritabanı, diğer hizmetler) iş mantığı arasındaki bağlantıyı kurar.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29"/>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14" name="Google Shape;214;p29"/>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400">
                <a:solidFill>
                  <a:schemeClr val="dk1"/>
                </a:solidFill>
              </a:rPr>
              <a:t>RESTful (Representational State Transfer) servis, </a:t>
            </a:r>
            <a:r>
              <a:rPr lang="en-US" sz="2400">
                <a:solidFill>
                  <a:schemeClr val="dk1"/>
                </a:solidFill>
              </a:rPr>
              <a:t>web servisleri geliştirmek için kullanılan bir mimari tarzıdır. RESTful servisler, HTTP protokolü üzerinde çalışır ve kaynakları tanımlamak ve manipüle etmek için basit ve yaygın olarak kullanılan HTTP metotlarını (GET, POST, PUT, DELETE, vb.) kullanır.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RESTful servislerin temel özellikleri şunlardır:</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Clean Architecture (Temiz Mimari)</a:t>
            </a:r>
            <a:endParaRPr/>
          </a:p>
        </p:txBody>
      </p:sp>
      <p:sp>
        <p:nvSpPr>
          <p:cNvPr id="221" name="Google Shape;221;p30"/>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rPr>
              <a:t>Clean architecture</a:t>
            </a:r>
            <a:r>
              <a:rPr lang="en-US" sz="2400"/>
              <a:t>, uygulamamızın bağımlılıkların tek yönlü ve merkeze doğru olmasını savunan bir yazılım mimarisidir.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2" name="Google Shape;222;p30"/>
          <p:cNvPicPr preferRelativeResize="0"/>
          <p:nvPr/>
        </p:nvPicPr>
        <p:blipFill rotWithShape="1">
          <a:blip r:embed="rId3">
            <a:alphaModFix/>
          </a:blip>
          <a:srcRect b="0" l="0" r="0" t="0"/>
          <a:stretch/>
        </p:blipFill>
        <p:spPr>
          <a:xfrm>
            <a:off x="3887140" y="3068929"/>
            <a:ext cx="3382903" cy="33259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Layer</a:t>
            </a:r>
            <a:endParaRPr/>
          </a:p>
        </p:txBody>
      </p:sp>
      <p:sp>
        <p:nvSpPr>
          <p:cNvPr id="228" name="Google Shape;228;p31"/>
          <p:cNvSpPr txBox="1"/>
          <p:nvPr>
            <p:ph idx="1" type="body"/>
          </p:nvPr>
        </p:nvSpPr>
        <p:spPr>
          <a:xfrm>
            <a:off x="838200" y="1608850"/>
            <a:ext cx="10515600" cy="3859800"/>
          </a:xfrm>
          <a:prstGeom prst="rect">
            <a:avLst/>
          </a:prstGeom>
          <a:noFill/>
          <a:ln>
            <a:noFill/>
          </a:ln>
        </p:spPr>
        <p:txBody>
          <a:bodyPr anchorCtr="0" anchor="t" bIns="45700" lIns="91425" spcFirstLastPara="1" rIns="91425" wrap="square" tIns="45700">
            <a:normAutofit lnSpcReduction="20000"/>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Uygulamanın Logic'inin yer aldığı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Değişikliklerden en az etkilenen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En değerli varlıklarımız bu katmanda yer alır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katmana bağımlı değildir.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Uygulama bu katmandan beslenerek iş süreçlerini yönetir.</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Application Layer</a:t>
            </a:r>
            <a:endParaRPr/>
          </a:p>
        </p:txBody>
      </p:sp>
      <p:sp>
        <p:nvSpPr>
          <p:cNvPr id="234" name="Google Shape;234;p32"/>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2400"/>
              <a:t>Sadece Domain katmanına bağımlıdır.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Use-Case tanımlarının yapıldığı katmandır.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Herhangi bir Logic barındırmaz.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Infrastructure Layer</a:t>
            </a:r>
            <a:endParaRPr/>
          </a:p>
        </p:txBody>
      </p:sp>
      <p:sp>
        <p:nvSpPr>
          <p:cNvPr id="240" name="Google Shape;240;p33"/>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fontScale="70000" lnSpcReduction="20000"/>
          </a:bodyPr>
          <a:lstStyle/>
          <a:p>
            <a:pPr indent="0" lvl="0" marL="228600" rtl="0" algn="l">
              <a:lnSpc>
                <a:spcPct val="90000"/>
              </a:lnSpc>
              <a:spcBef>
                <a:spcPts val="0"/>
              </a:spcBef>
              <a:spcAft>
                <a:spcPts val="0"/>
              </a:spcAft>
              <a:buNone/>
            </a:pPr>
            <a:r>
              <a:t/>
            </a:r>
            <a:endParaRPr sz="3400"/>
          </a:p>
          <a:p>
            <a:pPr indent="0" lvl="0" marL="228600" rtl="0" algn="l">
              <a:lnSpc>
                <a:spcPct val="90000"/>
              </a:lnSpc>
              <a:spcBef>
                <a:spcPts val="0"/>
              </a:spcBef>
              <a:spcAft>
                <a:spcPts val="0"/>
              </a:spcAft>
              <a:buNone/>
            </a:pPr>
            <a:r>
              <a:rPr lang="en-US" sz="3400"/>
              <a:t>Teknoloji değişikliklerinden en çok etkilenen katmandır.</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Sadece Altyapı hizmetleri ile ilgilenir.</a:t>
            </a:r>
            <a:endParaRPr sz="3400"/>
          </a:p>
          <a:p>
            <a:pPr indent="0" lvl="0" marL="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Gerekmedikçe Domain katmanından referans almaz. </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Domain katmanından çağrılacak ise de Interface (PORT) üzerinden dolaylı bir bağlantı kurulmalıdır.</a:t>
            </a:r>
            <a:endParaRPr sz="3400"/>
          </a:p>
          <a:p>
            <a:pPr indent="0" lvl="0" marL="0" rtl="0" algn="l">
              <a:lnSpc>
                <a:spcPct val="90000"/>
              </a:lnSpc>
              <a:spcBef>
                <a:spcPts val="1000"/>
              </a:spcBef>
              <a:spcAft>
                <a:spcPts val="0"/>
              </a:spcAft>
              <a:buNone/>
            </a:pPr>
            <a:r>
              <a:t/>
            </a:r>
            <a:endParaRPr sz="2400"/>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Presentation Layer</a:t>
            </a:r>
            <a:endParaRPr>
              <a:solidFill>
                <a:srgbClr val="DD7E0E"/>
              </a:solidFill>
            </a:endParaRPr>
          </a:p>
        </p:txBody>
      </p:sp>
      <p:sp>
        <p:nvSpPr>
          <p:cNvPr id="246" name="Google Shape;246;p34"/>
          <p:cNvSpPr txBox="1"/>
          <p:nvPr>
            <p:ph idx="1" type="body"/>
          </p:nvPr>
        </p:nvSpPr>
        <p:spPr>
          <a:xfrm>
            <a:off x="838200" y="155957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Uygulamaya gelen isteklerin ilk karşılandığı katmandır.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Farklı teknolojilerdeki projeler olabilir. (Console,Form, API, Web App)</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 bu katmana bağımlı olamaz.</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Diğer Tüm katmanları referans alabilir.</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hapesVTI">
  <a:themeElements>
    <a:clrScheme name="Ofis">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